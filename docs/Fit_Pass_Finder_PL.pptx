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57" autoAdjust="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l-PL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Dane dostępne</c:v>
          </c:tx>
          <c:spPr>
            <a:solidFill>
              <a:srgbClr val="3457F6"/>
            </a:solidFill>
          </c:spPr>
          <c:invertIfNegative val="1"/>
          <c:cat>
            <c:strRef>
              <c:f>'Chart Data'!$A$2:$A$3</c:f>
              <c:strCache>
                <c:ptCount val="2"/>
                <c:pt idx="0">
                  <c:v>Miejscowość: 10 243</c:v>
                </c:pt>
                <c:pt idx="1">
                  <c:v>Kod pocztowy: 3 473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10243</c:v>
                </c:pt>
                <c:pt idx="1">
                  <c:v>3473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E35-4D35-8E16-5F584A642AAF}"/>
            </c:ext>
          </c:extLst>
        </c:ser>
        <c:ser>
          <c:idx val="1"/>
          <c:order val="1"/>
          <c:tx>
            <c:v>Brak danych</c:v>
          </c:tx>
          <c:spPr>
            <a:solidFill>
              <a:srgbClr val="D9DFED"/>
            </a:solidFill>
          </c:spPr>
          <c:invertIfNegative val="1"/>
          <c:cat>
            <c:strRef>
              <c:f>'Chart Data'!$C$2:$C$3</c:f>
              <c:strCache>
                <c:ptCount val="2"/>
                <c:pt idx="0">
                  <c:v>Miejscowość: 10 243</c:v>
                </c:pt>
                <c:pt idx="1">
                  <c:v>Kod pocztowy: 3 473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971</c:v>
                </c:pt>
                <c:pt idx="1">
                  <c:v>7741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E35-4D35-8E16-5F584A642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6EAF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7F8FC"/>
        </a:solidFill>
      </c:spPr>
    </c:plotArea>
    <c:legend>
      <c:legendPos val="b"/>
      <c:overlay val="0"/>
      <c:txPr>
        <a:bodyPr anchorCtr="1"/>
        <a:lstStyle/>
        <a:p>
          <a:pPr>
            <a:defRPr sz="1725">
              <a:solidFill>
                <a:srgbClr val="526079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8FC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Fit Pass Finder pomaga znaleźć miejsce do aktywności fizycznej i sprawdzić deklarowaną akceptację kart. Zespół: Adam Błażejewski, Kewin Kisiel, Maciej Domeradzki. Użytkownik podał nazwę aplikacji, ale nie odrębną nazwę zespołu. Publiczne demo: https://fit-pass-finder.vercel.app/.</a:t>
            </a:r>
          </a:p>
          <a:p>
            <a:endParaRPr/>
          </a:p>
          <a:p>
            <a:r>
              <a:t>Źródła: SUMMARY.md; src/app/layout.tsx; dane zespołu przekazane przez użytkownika; Details - SPORT &amp; HEALTHCARE.pdf.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it-pass-finder.vercel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dasbl/hackyeah-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77kw2o-0">
            <a:extLst>
              <a:ext uri="{FF2B5EF4-FFF2-40B4-BE49-F238E27FC236}">
                <a16:creationId xmlns:a16="http://schemas.microsoft.com/office/drawing/2014/main" id="{48C45AE7-643E-4594-8BF7-732B2A3DC1C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A9B9D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9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77kw2o-1">
            <a:extLst>
              <a:ext uri="{FF2B5EF4-FFF2-40B4-BE49-F238E27FC236}">
                <a16:creationId xmlns:a16="http://schemas.microsoft.com/office/drawing/2014/main" id="{E39F12F4-E923-49EE-9728-BB62248CF672}"/>
              </a:ext>
            </a:extLst>
          </p:cNvPr>
          <p:cNvSpPr>
            <a:spLocks noGrp="1"/>
          </p:cNvSpPr>
          <p:nvPr/>
        </p:nvSpPr>
        <p:spPr>
          <a:xfrm>
            <a:off x="695325" y="1608365"/>
            <a:ext cx="9810750" cy="2238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Pass</a:t>
            </a:r>
            <a:r>
              <a:rPr lang="pl-PL" sz="7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7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Finder</a:t>
            </a:r>
          </a:p>
        </p:txBody>
      </p:sp>
      <p:sp>
        <p:nvSpPr>
          <p:cNvPr id="3" name="text-77kw2o-2">
            <a:extLst>
              <a:ext uri="{FF2B5EF4-FFF2-40B4-BE49-F238E27FC236}">
                <a16:creationId xmlns:a16="http://schemas.microsoft.com/office/drawing/2014/main" id="{7762055D-947D-4577-A20D-72C978C954E8}"/>
              </a:ext>
            </a:extLst>
          </p:cNvPr>
          <p:cNvSpPr>
            <a:spLocks noGrp="1"/>
          </p:cNvSpPr>
          <p:nvPr/>
        </p:nvSpPr>
        <p:spPr>
          <a:xfrm>
            <a:off x="647700" y="365760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0">
                <a:solidFill>
                  <a:srgbClr val="ACB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ACBFFF"/>
                </a:solidFill>
                <a:latin typeface="Arial"/>
                <a:ea typeface="Arial"/>
                <a:cs typeface="Arial"/>
              </a:rPr>
              <a:t>Obiekty sportowe dla Twojej karty</a:t>
            </a:r>
          </a:p>
        </p:txBody>
      </p:sp>
      <p:sp>
        <p:nvSpPr>
          <p:cNvPr id="4" name="text-77kw2o-3">
            <a:extLst>
              <a:ext uri="{FF2B5EF4-FFF2-40B4-BE49-F238E27FC236}">
                <a16:creationId xmlns:a16="http://schemas.microsoft.com/office/drawing/2014/main" id="{9BE5818D-B27C-4468-95C0-9AC3BF7AFA78}"/>
              </a:ext>
            </a:extLst>
          </p:cNvPr>
          <p:cNvSpPr>
            <a:spLocks noGrp="1"/>
          </p:cNvSpPr>
          <p:nvPr/>
        </p:nvSpPr>
        <p:spPr>
          <a:xfrm>
            <a:off x="647700" y="4795837"/>
            <a:ext cx="99060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Adam Błażejewski (lider)</a:t>
            </a:r>
          </a:p>
          <a:p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Kewin Kisiel     Maciej Domeradzki</a:t>
            </a:r>
          </a:p>
        </p:txBody>
      </p:sp>
      <p:sp>
        <p:nvSpPr>
          <p:cNvPr id="5" name="text-77kw2o-4">
            <a:extLst>
              <a:ext uri="{FF2B5EF4-FFF2-40B4-BE49-F238E27FC236}">
                <a16:creationId xmlns:a16="http://schemas.microsoft.com/office/drawing/2014/main" id="{F884B595-B83B-4ACE-A72C-B78050939B38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9810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A9B9D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9DA"/>
                </a:solidFill>
                <a:latin typeface="Arial"/>
                <a:ea typeface="Arial"/>
                <a:cs typeface="Arial"/>
              </a:rPr>
              <a:t>HackYeah 2026  /  SPORT &amp; HEALTHCARE</a:t>
            </a:r>
          </a:p>
        </p:txBody>
      </p:sp>
    </p:spTree>
    <p:extLst>
      <p:ext uri="{BB962C8B-B14F-4D97-AF65-F5344CB8AC3E}">
        <p14:creationId xmlns:p14="http://schemas.microsoft.com/office/powerpoint/2010/main" val="847221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p9ly51-0">
            <a:extLst>
              <a:ext uri="{FF2B5EF4-FFF2-40B4-BE49-F238E27FC236}">
                <a16:creationId xmlns:a16="http://schemas.microsoft.com/office/drawing/2014/main" id="{EDAE3676-A112-4896-8CE0-9A3A527AD24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Problem użytkownika</a:t>
            </a:r>
          </a:p>
        </p:txBody>
      </p:sp>
      <p:sp>
        <p:nvSpPr>
          <p:cNvPr id="2" name="text-p9ly51-1">
            <a:extLst>
              <a:ext uri="{FF2B5EF4-FFF2-40B4-BE49-F238E27FC236}">
                <a16:creationId xmlns:a16="http://schemas.microsoft.com/office/drawing/2014/main" id="{56374106-3710-4912-91D4-EE3784B8B947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p9ly51-2">
            <a:extLst>
              <a:ext uri="{FF2B5EF4-FFF2-40B4-BE49-F238E27FC236}">
                <a16:creationId xmlns:a16="http://schemas.microsoft.com/office/drawing/2014/main" id="{165452D1-5CA2-4410-A18E-8295C877C54E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5286375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875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Mam kartę.</a:t>
            </a:r>
          </a:p>
          <a:p>
            <a:pPr algn="l">
              <a:defRPr sz="4875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Gdzie mogę</a:t>
            </a:r>
          </a:p>
          <a:p>
            <a:pPr algn="l">
              <a:defRPr sz="4875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ćwiczyć?</a:t>
            </a:r>
          </a:p>
        </p:txBody>
      </p:sp>
      <p:sp>
        <p:nvSpPr>
          <p:cNvPr id="4" name="text-p9ly51-3">
            <a:extLst>
              <a:ext uri="{FF2B5EF4-FFF2-40B4-BE49-F238E27FC236}">
                <a16:creationId xmlns:a16="http://schemas.microsoft.com/office/drawing/2014/main" id="{1A16797B-CF80-4F31-8875-3AD16B817D92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048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Dla osób z kartą sportową, które szukają treningu blisko domu, pracy lub w nowym mieście.</a:t>
            </a:r>
          </a:p>
        </p:txBody>
      </p:sp>
      <p:sp>
        <p:nvSpPr>
          <p:cNvPr id="5" name="text-p9ly51-4">
            <a:extLst>
              <a:ext uri="{FF2B5EF4-FFF2-40B4-BE49-F238E27FC236}">
                <a16:creationId xmlns:a16="http://schemas.microsoft.com/office/drawing/2014/main" id="{31B15E94-0B77-4E37-9838-D76A8E3D36DD}"/>
              </a:ext>
            </a:extLst>
          </p:cNvPr>
          <p:cNvSpPr>
            <a:spLocks noGrp="1"/>
          </p:cNvSpPr>
          <p:nvPr/>
        </p:nvSpPr>
        <p:spPr>
          <a:xfrm>
            <a:off x="6534150" y="17335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Informacje są rozproszone</a:t>
            </a:r>
          </a:p>
        </p:txBody>
      </p:sp>
      <p:sp>
        <p:nvSpPr>
          <p:cNvPr id="6" name="text-p9ly51-5">
            <a:extLst>
              <a:ext uri="{FF2B5EF4-FFF2-40B4-BE49-F238E27FC236}">
                <a16:creationId xmlns:a16="http://schemas.microsoft.com/office/drawing/2014/main" id="{905B22E9-43F6-4A44-98C6-87701DA8DA5F}"/>
              </a:ext>
            </a:extLst>
          </p:cNvPr>
          <p:cNvSpPr>
            <a:spLocks noGrp="1"/>
          </p:cNvSpPr>
          <p:nvPr/>
        </p:nvSpPr>
        <p:spPr>
          <a:xfrm>
            <a:off x="6534150" y="2238375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Lokalizację, godziny i zasady wejścia trzeba sprawdzać w różnych miejscach.</a:t>
            </a:r>
          </a:p>
        </p:txBody>
      </p:sp>
      <p:sp>
        <p:nvSpPr>
          <p:cNvPr id="7" name="text-p9ly51-6">
            <a:extLst>
              <a:ext uri="{FF2B5EF4-FFF2-40B4-BE49-F238E27FC236}">
                <a16:creationId xmlns:a16="http://schemas.microsoft.com/office/drawing/2014/main" id="{3CFF07F4-EA78-4418-B788-C550FD89BA41}"/>
              </a:ext>
            </a:extLst>
          </p:cNvPr>
          <p:cNvSpPr>
            <a:spLocks noGrp="1"/>
          </p:cNvSpPr>
          <p:nvPr/>
        </p:nvSpPr>
        <p:spPr>
          <a:xfrm>
            <a:off x="6534150" y="343852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Akceptacja ma warunki</a:t>
            </a:r>
          </a:p>
        </p:txBody>
      </p:sp>
      <p:sp>
        <p:nvSpPr>
          <p:cNvPr id="8" name="text-p9ly51-7">
            <a:extLst>
              <a:ext uri="{FF2B5EF4-FFF2-40B4-BE49-F238E27FC236}">
                <a16:creationId xmlns:a16="http://schemas.microsoft.com/office/drawing/2014/main" id="{9D6C4653-0773-4452-BE47-0401D1FBC2A5}"/>
              </a:ext>
            </a:extLst>
          </p:cNvPr>
          <p:cNvSpPr>
            <a:spLocks noGrp="1"/>
          </p:cNvSpPr>
          <p:nvPr/>
        </p:nvSpPr>
        <p:spPr>
          <a:xfrm>
            <a:off x="6534150" y="394335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Rodzaj pakietu, dopłata lub sposób wejścia mogą zmienić wybór obiektu.</a:t>
            </a:r>
          </a:p>
        </p:txBody>
      </p:sp>
      <p:sp>
        <p:nvSpPr>
          <p:cNvPr id="9" name="text-p9ly51-8">
            <a:extLst>
              <a:ext uri="{FF2B5EF4-FFF2-40B4-BE49-F238E27FC236}">
                <a16:creationId xmlns:a16="http://schemas.microsoft.com/office/drawing/2014/main" id="{A3F162BC-7C9D-4573-8035-F39390446052}"/>
              </a:ext>
            </a:extLst>
          </p:cNvPr>
          <p:cNvSpPr>
            <a:spLocks noGrp="1"/>
          </p:cNvSpPr>
          <p:nvPr/>
        </p:nvSpPr>
        <p:spPr>
          <a:xfrm>
            <a:off x="6534150" y="51530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Cel: łatwiejszy wybór aktywności</a:t>
            </a:r>
          </a:p>
        </p:txBody>
      </p:sp>
      <p:sp>
        <p:nvSpPr>
          <p:cNvPr id="10" name="text-p9ly51-9">
            <a:extLst>
              <a:ext uri="{FF2B5EF4-FFF2-40B4-BE49-F238E27FC236}">
                <a16:creationId xmlns:a16="http://schemas.microsoft.com/office/drawing/2014/main" id="{5D35A499-18CA-4A69-8134-7FB596990BA5}"/>
              </a:ext>
            </a:extLst>
          </p:cNvPr>
          <p:cNvSpPr>
            <a:spLocks noGrp="1"/>
          </p:cNvSpPr>
          <p:nvPr/>
        </p:nvSpPr>
        <p:spPr>
          <a:xfrm>
            <a:off x="6534150" y="565785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Mniej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szukania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informacji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przed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pierwszą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wizytą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.</a:t>
            </a:r>
            <a:r>
              <a:rPr lang="pl-PL"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I więcej chęci na trening</a:t>
            </a:r>
            <a:endParaRPr sz="1875" b="0" dirty="0">
              <a:solidFill>
                <a:srgbClr val="52607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35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rzg521-0">
            <a:extLst>
              <a:ext uri="{FF2B5EF4-FFF2-40B4-BE49-F238E27FC236}">
                <a16:creationId xmlns:a16="http://schemas.microsoft.com/office/drawing/2014/main" id="{C8295A37-DB0F-422A-AD81-04E41FAC1F0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 dirty="0" err="1">
                <a:solidFill>
                  <a:srgbClr val="101A30"/>
                </a:solidFill>
                <a:latin typeface="Arial"/>
                <a:ea typeface="Arial"/>
                <a:cs typeface="Arial"/>
              </a:rPr>
              <a:t>Jedna</a:t>
            </a:r>
            <a:r>
              <a:rPr sz="3300" b="1" dirty="0">
                <a:solidFill>
                  <a:srgbClr val="101A30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101A30"/>
                </a:solidFill>
                <a:latin typeface="Arial"/>
                <a:ea typeface="Arial"/>
                <a:cs typeface="Arial"/>
              </a:rPr>
              <a:t>wyszukiwarka</a:t>
            </a:r>
            <a:r>
              <a:rPr sz="3300" b="1" dirty="0">
                <a:solidFill>
                  <a:srgbClr val="101A30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101A30"/>
                </a:solidFill>
                <a:latin typeface="Arial"/>
                <a:ea typeface="Arial"/>
                <a:cs typeface="Arial"/>
              </a:rPr>
              <a:t>dla</a:t>
            </a:r>
            <a:r>
              <a:rPr sz="3300" b="1" dirty="0">
                <a:solidFill>
                  <a:srgbClr val="101A30"/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dirty="0" err="1">
                <a:solidFill>
                  <a:srgbClr val="101A30"/>
                </a:solidFill>
                <a:latin typeface="Arial"/>
                <a:ea typeface="Arial"/>
                <a:cs typeface="Arial"/>
              </a:rPr>
              <a:t>wielu</a:t>
            </a:r>
            <a:r>
              <a:rPr sz="3300" b="1" dirty="0">
                <a:solidFill>
                  <a:srgbClr val="101A30"/>
                </a:solidFill>
                <a:latin typeface="Arial"/>
                <a:ea typeface="Arial"/>
                <a:cs typeface="Arial"/>
              </a:rPr>
              <a:t> kart</a:t>
            </a:r>
          </a:p>
        </p:txBody>
      </p:sp>
      <p:sp>
        <p:nvSpPr>
          <p:cNvPr id="2" name="text-rzg521-1">
            <a:extLst>
              <a:ext uri="{FF2B5EF4-FFF2-40B4-BE49-F238E27FC236}">
                <a16:creationId xmlns:a16="http://schemas.microsoft.com/office/drawing/2014/main" id="{D46FDF78-E46A-4E34-819E-1E548A914784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rzg521-2">
            <a:extLst>
              <a:ext uri="{FF2B5EF4-FFF2-40B4-BE49-F238E27FC236}">
                <a16:creationId xmlns:a16="http://schemas.microsoft.com/office/drawing/2014/main" id="{098232AA-7E12-43BA-899E-FE7E7D0669D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Miejsce i rodzaj aktywności</a:t>
            </a:r>
          </a:p>
        </p:txBody>
      </p:sp>
      <p:sp>
        <p:nvSpPr>
          <p:cNvPr id="4" name="text-rzg521-3">
            <a:extLst>
              <a:ext uri="{FF2B5EF4-FFF2-40B4-BE49-F238E27FC236}">
                <a16:creationId xmlns:a16="http://schemas.microsoft.com/office/drawing/2014/main" id="{509B5561-DD3F-418C-AE3F-A1BF9C543DCB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40481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Miejscowość, kod pocztowy, nazwa obiektu lub lokalizacja użytkownika.</a:t>
            </a:r>
          </a:p>
        </p:txBody>
      </p:sp>
      <p:sp>
        <p:nvSpPr>
          <p:cNvPr id="5" name="text-rzg521-4">
            <a:extLst>
              <a:ext uri="{FF2B5EF4-FFF2-40B4-BE49-F238E27FC236}">
                <a16:creationId xmlns:a16="http://schemas.microsoft.com/office/drawing/2014/main" id="{C5DD49F6-7A8C-43D2-AD5E-A64BE5793F72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4 operatorów kart</a:t>
            </a:r>
          </a:p>
        </p:txBody>
      </p:sp>
      <p:sp>
        <p:nvSpPr>
          <p:cNvPr id="6" name="text-rzg521-5">
            <a:extLst>
              <a:ext uri="{FF2B5EF4-FFF2-40B4-BE49-F238E27FC236}">
                <a16:creationId xmlns:a16="http://schemas.microsoft.com/office/drawing/2014/main" id="{4AABCE3C-F5A2-4754-82AC-4BE4B5A64B79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MultiSport, BeActive,</a:t>
            </a:r>
          </a:p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Medicover Sport, PZU Sport.</a:t>
            </a:r>
          </a:p>
        </p:txBody>
      </p:sp>
      <p:sp>
        <p:nvSpPr>
          <p:cNvPr id="7" name="text-rzg521-6">
            <a:extLst>
              <a:ext uri="{FF2B5EF4-FFF2-40B4-BE49-F238E27FC236}">
                <a16:creationId xmlns:a16="http://schemas.microsoft.com/office/drawing/2014/main" id="{9E0D9D7E-72FF-4BF6-90F4-8695F51B4D37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Bez zakładania konta</a:t>
            </a:r>
          </a:p>
        </p:txBody>
      </p:sp>
      <p:sp>
        <p:nvSpPr>
          <p:cNvPr id="8" name="text-rzg521-7">
            <a:extLst>
              <a:ext uri="{FF2B5EF4-FFF2-40B4-BE49-F238E27FC236}">
                <a16:creationId xmlns:a16="http://schemas.microsoft.com/office/drawing/2014/main" id="{B23B3E08-E288-4E03-A057-485BA9D6B08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4095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Wyszukiwanie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i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ulubione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dostępne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od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pierwszego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wejścia</a:t>
            </a:r>
            <a:r>
              <a:rPr sz="1875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8" name="Obraz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2027046"/>
            <a:ext cx="6572250" cy="339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lj6oiq-0">
            <a:extLst>
              <a:ext uri="{FF2B5EF4-FFF2-40B4-BE49-F238E27FC236}">
                <a16:creationId xmlns:a16="http://schemas.microsoft.com/office/drawing/2014/main" id="{BBE27EA8-7BD0-429A-8FDA-7747849226F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Od wyszukiwania do wizyty</a:t>
            </a:r>
          </a:p>
        </p:txBody>
      </p:sp>
      <p:sp>
        <p:nvSpPr>
          <p:cNvPr id="2" name="text-lj6oiq-1">
            <a:extLst>
              <a:ext uri="{FF2B5EF4-FFF2-40B4-BE49-F238E27FC236}">
                <a16:creationId xmlns:a16="http://schemas.microsoft.com/office/drawing/2014/main" id="{6F6A7ABD-DF3C-4B5A-8718-3919BB74CB2D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lj6oiq-2">
            <a:extLst>
              <a:ext uri="{FF2B5EF4-FFF2-40B4-BE49-F238E27FC236}">
                <a16:creationId xmlns:a16="http://schemas.microsoft.com/office/drawing/2014/main" id="{9644B4C1-22B2-419E-ABED-C77DE1A54FE2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01  Wybór</a:t>
            </a:r>
          </a:p>
        </p:txBody>
      </p:sp>
      <p:sp>
        <p:nvSpPr>
          <p:cNvPr id="4" name="text-lj6oiq-3">
            <a:extLst>
              <a:ext uri="{FF2B5EF4-FFF2-40B4-BE49-F238E27FC236}">
                <a16:creationId xmlns:a16="http://schemas.microsoft.com/office/drawing/2014/main" id="{E32FA65F-EB95-4E8D-926A-263549875C7F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Użytkownik wybiera miejsce, aktywność i kartę.</a:t>
            </a:r>
          </a:p>
        </p:txBody>
      </p:sp>
      <p:sp>
        <p:nvSpPr>
          <p:cNvPr id="5" name="text-lj6oiq-4">
            <a:extLst>
              <a:ext uri="{FF2B5EF4-FFF2-40B4-BE49-F238E27FC236}">
                <a16:creationId xmlns:a16="http://schemas.microsoft.com/office/drawing/2014/main" id="{20E606D6-365E-4C1D-B3BE-A992179408B4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02  Porównanie</a:t>
            </a:r>
          </a:p>
        </p:txBody>
      </p:sp>
      <p:sp>
        <p:nvSpPr>
          <p:cNvPr id="6" name="text-lj6oiq-5">
            <a:extLst>
              <a:ext uri="{FF2B5EF4-FFF2-40B4-BE49-F238E27FC236}">
                <a16:creationId xmlns:a16="http://schemas.microsoft.com/office/drawing/2014/main" id="{C563CA59-8C15-49C1-8F3B-2B5C632A49F9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190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Lista lub mapa, odległość i filtr „otwarte teraz”.</a:t>
            </a:r>
          </a:p>
        </p:txBody>
      </p:sp>
      <p:sp>
        <p:nvSpPr>
          <p:cNvPr id="7" name="text-lj6oiq-6">
            <a:extLst>
              <a:ext uri="{FF2B5EF4-FFF2-40B4-BE49-F238E27FC236}">
                <a16:creationId xmlns:a16="http://schemas.microsoft.com/office/drawing/2014/main" id="{DEED601E-44E8-4469-8EF0-786A9BBFCCC2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03  Następny krok</a:t>
            </a:r>
          </a:p>
        </p:txBody>
      </p:sp>
      <p:sp>
        <p:nvSpPr>
          <p:cNvPr id="8" name="text-lj6oiq-7">
            <a:extLst>
              <a:ext uri="{FF2B5EF4-FFF2-40B4-BE49-F238E27FC236}">
                <a16:creationId xmlns:a16="http://schemas.microsoft.com/office/drawing/2014/main" id="{EC63BB56-3A72-4077-8066-AB9F558F3DED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31908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Profil obiektu, warunki wejścia i trasa dojazdu.</a:t>
            </a:r>
          </a:p>
        </p:txBody>
      </p:sp>
      <p:pic>
        <p:nvPicPr>
          <p:cNvPr id="18" name="Obraz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43375" y="1667597"/>
            <a:ext cx="7429500" cy="442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fnzu6q-0">
            <a:extLst>
              <a:ext uri="{FF2B5EF4-FFF2-40B4-BE49-F238E27FC236}">
                <a16:creationId xmlns:a16="http://schemas.microsoft.com/office/drawing/2014/main" id="{C5924A6D-50A2-4E16-BF32-2144F62F5C6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Warunki wejścia i wiarygodność danych</a:t>
            </a:r>
          </a:p>
        </p:txBody>
      </p:sp>
      <p:sp>
        <p:nvSpPr>
          <p:cNvPr id="2" name="text-fnzu6q-1">
            <a:extLst>
              <a:ext uri="{FF2B5EF4-FFF2-40B4-BE49-F238E27FC236}">
                <a16:creationId xmlns:a16="http://schemas.microsoft.com/office/drawing/2014/main" id="{335EA9F1-C814-4F3B-A45D-B877EADF217F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fnzu6q-2">
            <a:extLst>
              <a:ext uri="{FF2B5EF4-FFF2-40B4-BE49-F238E27FC236}">
                <a16:creationId xmlns:a16="http://schemas.microsoft.com/office/drawing/2014/main" id="{7226B4C6-0023-46D6-91CF-F58FCBEFD0B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4 czytelne statusy</a:t>
            </a:r>
          </a:p>
        </p:txBody>
      </p:sp>
      <p:sp>
        <p:nvSpPr>
          <p:cNvPr id="4" name="text-fnzu6q-3">
            <a:extLst>
              <a:ext uri="{FF2B5EF4-FFF2-40B4-BE49-F238E27FC236}">
                <a16:creationId xmlns:a16="http://schemas.microsoft.com/office/drawing/2014/main" id="{D899C3AB-374C-4F5B-9F87-48BF6FC0F224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3667125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Akceptowana</a:t>
            </a:r>
          </a:p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Pod warunkami</a:t>
            </a:r>
          </a:p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Nieakceptowana</a:t>
            </a:r>
          </a:p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Brak danych</a:t>
            </a:r>
          </a:p>
        </p:txBody>
      </p:sp>
      <p:sp>
        <p:nvSpPr>
          <p:cNvPr id="5" name="text-fnzu6q-4">
            <a:extLst>
              <a:ext uri="{FF2B5EF4-FFF2-40B4-BE49-F238E27FC236}">
                <a16:creationId xmlns:a16="http://schemas.microsoft.com/office/drawing/2014/main" id="{FDE22011-8294-491D-AF38-A61F860E4A57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Źródło, data i pewność</a:t>
            </a:r>
          </a:p>
        </p:txBody>
      </p:sp>
      <p:sp>
        <p:nvSpPr>
          <p:cNvPr id="6" name="text-fnzu6q-5">
            <a:extLst>
              <a:ext uri="{FF2B5EF4-FFF2-40B4-BE49-F238E27FC236}">
                <a16:creationId xmlns:a16="http://schemas.microsoft.com/office/drawing/2014/main" id="{B9A7F915-4208-41FB-8DDB-245D869B6F28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376237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Użytkownik widzi, na czym opiera się informacja o karcie.</a:t>
            </a:r>
          </a:p>
        </p:txBody>
      </p:sp>
      <p:sp>
        <p:nvSpPr>
          <p:cNvPr id="7" name="text-fnzu6q-6">
            <a:extLst>
              <a:ext uri="{FF2B5EF4-FFF2-40B4-BE49-F238E27FC236}">
                <a16:creationId xmlns:a16="http://schemas.microsoft.com/office/drawing/2014/main" id="{48DE5917-1EA4-4B65-95FD-8559F5421A0C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390525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Zgłoszenia społeczności mają niską pewność. Przed wizytą warto potwierdzić warunki.</a:t>
            </a:r>
          </a:p>
        </p:txBody>
      </p:sp>
      <p:sp>
        <p:nvSpPr>
          <p:cNvPr id="8" name="text-fnzu6q-7">
            <a:extLst>
              <a:ext uri="{FF2B5EF4-FFF2-40B4-BE49-F238E27FC236}">
                <a16:creationId xmlns:a16="http://schemas.microsoft.com/office/drawing/2014/main" id="{1A7B6F0B-E44D-4104-AF18-0D96E5E7A489}"/>
              </a:ext>
            </a:extLst>
          </p:cNvPr>
          <p:cNvSpPr>
            <a:spLocks noGrp="1"/>
          </p:cNvSpPr>
          <p:nvPr/>
        </p:nvSpPr>
        <p:spPr>
          <a:xfrm>
            <a:off x="5238750" y="1314450"/>
            <a:ext cx="6286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Przykład: Well Fitness Warszawa Bemowo</a:t>
            </a:r>
          </a:p>
        </p:txBody>
      </p:sp>
      <p:pic>
        <p:nvPicPr>
          <p:cNvPr id="18" name="Obraz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27494" y="1619250"/>
            <a:ext cx="4680388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15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z6pd0v-0">
            <a:extLst>
              <a:ext uri="{FF2B5EF4-FFF2-40B4-BE49-F238E27FC236}">
                <a16:creationId xmlns:a16="http://schemas.microsoft.com/office/drawing/2014/main" id="{F4180066-93C2-4C7C-A33D-714B11E2348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Architektura projektu</a:t>
            </a:r>
          </a:p>
        </p:txBody>
      </p:sp>
      <p:sp>
        <p:nvSpPr>
          <p:cNvPr id="2" name="text-z6pd0v-1">
            <a:extLst>
              <a:ext uri="{FF2B5EF4-FFF2-40B4-BE49-F238E27FC236}">
                <a16:creationId xmlns:a16="http://schemas.microsoft.com/office/drawing/2014/main" id="{CCC2B755-B530-4D67-8D1A-BC14F0EDEF81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z6pd0v-2">
            <a:extLst>
              <a:ext uri="{FF2B5EF4-FFF2-40B4-BE49-F238E27FC236}">
                <a16:creationId xmlns:a16="http://schemas.microsoft.com/office/drawing/2014/main" id="{0D958600-6CCE-47B9-89A0-7DFCDD089B2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Aplikacja i backend</a:t>
            </a:r>
          </a:p>
        </p:txBody>
      </p:sp>
      <p:sp>
        <p:nvSpPr>
          <p:cNvPr id="4" name="text-z6pd0v-3">
            <a:extLst>
              <a:ext uri="{FF2B5EF4-FFF2-40B4-BE49-F238E27FC236}">
                <a16:creationId xmlns:a16="http://schemas.microsoft.com/office/drawing/2014/main" id="{3FEFE9BC-8B97-4D70-ABC2-83873B612A57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5524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Next.js + React + TypeScript</a:t>
            </a:r>
          </a:p>
        </p:txBody>
      </p:sp>
      <p:sp>
        <p:nvSpPr>
          <p:cNvPr id="5" name="text-z6pd0v-4">
            <a:extLst>
              <a:ext uri="{FF2B5EF4-FFF2-40B4-BE49-F238E27FC236}">
                <a16:creationId xmlns:a16="http://schemas.microsoft.com/office/drawing/2014/main" id="{1F932A31-2D31-4766-9F5D-161D99D944F6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50482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Wspólny serwis obsługuje listę, mapę, profile, ulubione i statystyki kart.</a:t>
            </a:r>
          </a:p>
        </p:txBody>
      </p:sp>
      <p:sp>
        <p:nvSpPr>
          <p:cNvPr id="6" name="text-z6pd0v-5">
            <a:extLst>
              <a:ext uri="{FF2B5EF4-FFF2-40B4-BE49-F238E27FC236}">
                <a16:creationId xmlns:a16="http://schemas.microsoft.com/office/drawing/2014/main" id="{16921720-D7DA-455A-BC9A-61ED3DF97CA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Baza i wyszukiwanie przestrzenne</a:t>
            </a:r>
          </a:p>
        </p:txBody>
      </p:sp>
      <p:sp>
        <p:nvSpPr>
          <p:cNvPr id="7" name="text-z6pd0v-6">
            <a:extLst>
              <a:ext uri="{FF2B5EF4-FFF2-40B4-BE49-F238E27FC236}">
                <a16:creationId xmlns:a16="http://schemas.microsoft.com/office/drawing/2014/main" id="{47D7FA8B-4B1C-443E-B115-1DDE42123C85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5762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75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PostgreSQL + PostGIS + Drizzle</a:t>
            </a:r>
          </a:p>
        </p:txBody>
      </p:sp>
      <p:sp>
        <p:nvSpPr>
          <p:cNvPr id="8" name="text-z6pd0v-7">
            <a:extLst>
              <a:ext uri="{FF2B5EF4-FFF2-40B4-BE49-F238E27FC236}">
                <a16:creationId xmlns:a16="http://schemas.microsoft.com/office/drawing/2014/main" id="{FB94B79B-C7DD-4149-B35E-FC1D376A69CC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5334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Filtry, odległości i obiekty w widocznym obszarze mapy.</a:t>
            </a:r>
          </a:p>
        </p:txBody>
      </p:sp>
      <p:sp>
        <p:nvSpPr>
          <p:cNvPr id="9" name="text-z6pd0v-8">
            <a:extLst>
              <a:ext uri="{FF2B5EF4-FFF2-40B4-BE49-F238E27FC236}">
                <a16:creationId xmlns:a16="http://schemas.microsoft.com/office/drawing/2014/main" id="{ABBCD4A5-032E-4736-B146-40886553F863}"/>
              </a:ext>
            </a:extLst>
          </p:cNvPr>
          <p:cNvSpPr>
            <a:spLocks noGrp="1"/>
          </p:cNvSpPr>
          <p:nvPr/>
        </p:nvSpPr>
        <p:spPr>
          <a:xfrm>
            <a:off x="7000875" y="1733550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713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13DFF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10" name="text-z6pd0v-9">
            <a:extLst>
              <a:ext uri="{FF2B5EF4-FFF2-40B4-BE49-F238E27FC236}">
                <a16:creationId xmlns:a16="http://schemas.microsoft.com/office/drawing/2014/main" id="{DC44DAA5-5F5F-4A0C-AF5D-5749EF6444E1}"/>
              </a:ext>
            </a:extLst>
          </p:cNvPr>
          <p:cNvSpPr>
            <a:spLocks noGrp="1"/>
          </p:cNvSpPr>
          <p:nvPr/>
        </p:nvSpPr>
        <p:spPr>
          <a:xfrm>
            <a:off x="7000875" y="2238375"/>
            <a:ext cx="43815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MapLibre GL JS</a:t>
            </a:r>
          </a:p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OpenFreeMap jako domyślny styl</a:t>
            </a:r>
          </a:p>
        </p:txBody>
      </p:sp>
      <p:sp>
        <p:nvSpPr>
          <p:cNvPr id="11" name="text-z6pd0v-10">
            <a:extLst>
              <a:ext uri="{FF2B5EF4-FFF2-40B4-BE49-F238E27FC236}">
                <a16:creationId xmlns:a16="http://schemas.microsoft.com/office/drawing/2014/main" id="{49E1947A-5B0D-44C8-97D4-1835AE4E0A1C}"/>
              </a:ext>
            </a:extLst>
          </p:cNvPr>
          <p:cNvSpPr>
            <a:spLocks noGrp="1"/>
          </p:cNvSpPr>
          <p:nvPr/>
        </p:nvSpPr>
        <p:spPr>
          <a:xfrm>
            <a:off x="7000875" y="3638550"/>
            <a:ext cx="4381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713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13DFF"/>
                </a:solidFill>
                <a:latin typeface="Arial"/>
                <a:ea typeface="Arial"/>
                <a:cs typeface="Arial"/>
              </a:rPr>
              <a:t>Środowisko</a:t>
            </a:r>
          </a:p>
        </p:txBody>
      </p:sp>
      <p:sp>
        <p:nvSpPr>
          <p:cNvPr id="12" name="text-z6pd0v-11">
            <a:extLst>
              <a:ext uri="{FF2B5EF4-FFF2-40B4-BE49-F238E27FC236}">
                <a16:creationId xmlns:a16="http://schemas.microsoft.com/office/drawing/2014/main" id="{5DBD1DFD-4CB3-482C-B739-F4720B618E32}"/>
              </a:ext>
            </a:extLst>
          </p:cNvPr>
          <p:cNvSpPr>
            <a:spLocks noGrp="1"/>
          </p:cNvSpPr>
          <p:nvPr/>
        </p:nvSpPr>
        <p:spPr>
          <a:xfrm>
            <a:off x="7000875" y="4143375"/>
            <a:ext cx="4381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Vercel dla aplikacji</a:t>
            </a:r>
          </a:p>
          <a:p>
            <a:pPr algn="l">
              <a:defRPr sz="21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Supabase dla bazy danych</a:t>
            </a:r>
          </a:p>
        </p:txBody>
      </p:sp>
      <p:sp>
        <p:nvSpPr>
          <p:cNvPr id="13" name="text-z6pd0v-12">
            <a:extLst>
              <a:ext uri="{FF2B5EF4-FFF2-40B4-BE49-F238E27FC236}">
                <a16:creationId xmlns:a16="http://schemas.microsoft.com/office/drawing/2014/main" id="{74CF5957-6132-4091-8E6D-8FC7C66DDC99}"/>
              </a:ext>
            </a:extLst>
          </p:cNvPr>
          <p:cNvSpPr>
            <a:spLocks noGrp="1"/>
          </p:cNvSpPr>
          <p:nvPr/>
        </p:nvSpPr>
        <p:spPr>
          <a:xfrm>
            <a:off x="7000875" y="5381625"/>
            <a:ext cx="4381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Cache odczytów, lekkie dane pinezek i agregacje statystyk w bazie.</a:t>
            </a:r>
          </a:p>
        </p:txBody>
      </p:sp>
    </p:spTree>
    <p:extLst>
      <p:ext uri="{BB962C8B-B14F-4D97-AF65-F5344CB8AC3E}">
        <p14:creationId xmlns:p14="http://schemas.microsoft.com/office/powerpoint/2010/main" val="108914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s72wew-0">
            <a:extLst>
              <a:ext uri="{FF2B5EF4-FFF2-40B4-BE49-F238E27FC236}">
                <a16:creationId xmlns:a16="http://schemas.microsoft.com/office/drawing/2014/main" id="{CBBAB9CB-8D86-4C04-8BF0-BAA63D428E6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Jak realizowaliśmy projekt</a:t>
            </a:r>
          </a:p>
        </p:txBody>
      </p:sp>
      <p:sp>
        <p:nvSpPr>
          <p:cNvPr id="2" name="text-s72wew-1">
            <a:extLst>
              <a:ext uri="{FF2B5EF4-FFF2-40B4-BE49-F238E27FC236}">
                <a16:creationId xmlns:a16="http://schemas.microsoft.com/office/drawing/2014/main" id="{8F989DDA-5C46-4C96-87DB-838E6F5A2B0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s72wew-2">
            <a:extLst>
              <a:ext uri="{FF2B5EF4-FFF2-40B4-BE49-F238E27FC236}">
                <a16:creationId xmlns:a16="http://schemas.microsoft.com/office/drawing/2014/main" id="{6FECB953-6DA4-4B6B-BDF1-E2CC1D3AB66C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s72wew-3">
            <a:extLst>
              <a:ext uri="{FF2B5EF4-FFF2-40B4-BE49-F238E27FC236}">
                <a16:creationId xmlns:a16="http://schemas.microsoft.com/office/drawing/2014/main" id="{E8B09B61-C9B0-455A-B21A-887B576EA1CF}"/>
              </a:ext>
            </a:extLst>
          </p:cNvPr>
          <p:cNvSpPr>
            <a:spLocks noGrp="1"/>
          </p:cNvSpPr>
          <p:nvPr/>
        </p:nvSpPr>
        <p:spPr>
          <a:xfrm>
            <a:off x="1800225" y="1638300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Prototyp interfejsu</a:t>
            </a:r>
          </a:p>
        </p:txBody>
      </p:sp>
      <p:sp>
        <p:nvSpPr>
          <p:cNvPr id="5" name="text-s72wew-4">
            <a:extLst>
              <a:ext uri="{FF2B5EF4-FFF2-40B4-BE49-F238E27FC236}">
                <a16:creationId xmlns:a16="http://schemas.microsoft.com/office/drawing/2014/main" id="{4530E997-2C6C-48F1-A305-2BC855B66786}"/>
              </a:ext>
            </a:extLst>
          </p:cNvPr>
          <p:cNvSpPr>
            <a:spLocks noGrp="1"/>
          </p:cNvSpPr>
          <p:nvPr/>
        </p:nvSpPr>
        <p:spPr>
          <a:xfrm>
            <a:off x="1800225" y="2095500"/>
            <a:ext cx="9477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Ekran wyszukiwania, wspólny model danych i lista na danych przykładowych.</a:t>
            </a:r>
          </a:p>
        </p:txBody>
      </p:sp>
      <p:sp>
        <p:nvSpPr>
          <p:cNvPr id="6" name="text-s72wew-5">
            <a:extLst>
              <a:ext uri="{FF2B5EF4-FFF2-40B4-BE49-F238E27FC236}">
                <a16:creationId xmlns:a16="http://schemas.microsoft.com/office/drawing/2014/main" id="{C0B4EBD8-3FFB-4D7E-B64C-4D717EFBEE1C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s72wew-6">
            <a:extLst>
              <a:ext uri="{FF2B5EF4-FFF2-40B4-BE49-F238E27FC236}">
                <a16:creationId xmlns:a16="http://schemas.microsoft.com/office/drawing/2014/main" id="{C88FC707-4710-4240-B0EA-9908F2C94AB8}"/>
              </a:ext>
            </a:extLst>
          </p:cNvPr>
          <p:cNvSpPr>
            <a:spLocks noGrp="1"/>
          </p:cNvSpPr>
          <p:nvPr/>
        </p:nvSpPr>
        <p:spPr>
          <a:xfrm>
            <a:off x="1800225" y="277177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Baza i integracja</a:t>
            </a:r>
          </a:p>
        </p:txBody>
      </p:sp>
      <p:sp>
        <p:nvSpPr>
          <p:cNvPr id="8" name="text-s72wew-7">
            <a:extLst>
              <a:ext uri="{FF2B5EF4-FFF2-40B4-BE49-F238E27FC236}">
                <a16:creationId xmlns:a16="http://schemas.microsoft.com/office/drawing/2014/main" id="{3B747D06-F500-49BB-A253-DCF7A92A8A4E}"/>
              </a:ext>
            </a:extLst>
          </p:cNvPr>
          <p:cNvSpPr>
            <a:spLocks noGrp="1"/>
          </p:cNvSpPr>
          <p:nvPr/>
        </p:nvSpPr>
        <p:spPr>
          <a:xfrm>
            <a:off x="1800225" y="3228975"/>
            <a:ext cx="9477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Schemat PostGIS, migracje i podłączenie interfejsu do Supabase.</a:t>
            </a:r>
          </a:p>
        </p:txBody>
      </p:sp>
      <p:sp>
        <p:nvSpPr>
          <p:cNvPr id="9" name="text-s72wew-8">
            <a:extLst>
              <a:ext uri="{FF2B5EF4-FFF2-40B4-BE49-F238E27FC236}">
                <a16:creationId xmlns:a16="http://schemas.microsoft.com/office/drawing/2014/main" id="{D5B4F062-9426-4987-84D9-CEE5CAA9155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s72wew-9">
            <a:extLst>
              <a:ext uri="{FF2B5EF4-FFF2-40B4-BE49-F238E27FC236}">
                <a16:creationId xmlns:a16="http://schemas.microsoft.com/office/drawing/2014/main" id="{427027E6-68F7-4B31-8E25-E1AD8363ABB0}"/>
              </a:ext>
            </a:extLst>
          </p:cNvPr>
          <p:cNvSpPr>
            <a:spLocks noGrp="1"/>
          </p:cNvSpPr>
          <p:nvPr/>
        </p:nvSpPr>
        <p:spPr>
          <a:xfrm>
            <a:off x="1800225" y="3905250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Katalog dla Polski</a:t>
            </a:r>
          </a:p>
        </p:txBody>
      </p:sp>
      <p:sp>
        <p:nvSpPr>
          <p:cNvPr id="11" name="text-s72wew-10">
            <a:extLst>
              <a:ext uri="{FF2B5EF4-FFF2-40B4-BE49-F238E27FC236}">
                <a16:creationId xmlns:a16="http://schemas.microsoft.com/office/drawing/2014/main" id="{5A7E1FC6-A205-4D21-86DE-48FFEBD8902E}"/>
              </a:ext>
            </a:extLst>
          </p:cNvPr>
          <p:cNvSpPr>
            <a:spLocks noGrp="1"/>
          </p:cNvSpPr>
          <p:nvPr/>
        </p:nvSpPr>
        <p:spPr>
          <a:xfrm>
            <a:off x="1800225" y="4362450"/>
            <a:ext cx="9477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Import OSM, filtrowanie obiektów i uzupełnianie miejscowości oraz kodów.</a:t>
            </a:r>
          </a:p>
        </p:txBody>
      </p:sp>
      <p:sp>
        <p:nvSpPr>
          <p:cNvPr id="12" name="text-s72wew-11">
            <a:extLst>
              <a:ext uri="{FF2B5EF4-FFF2-40B4-BE49-F238E27FC236}">
                <a16:creationId xmlns:a16="http://schemas.microsoft.com/office/drawing/2014/main" id="{0BA89D57-F9E8-4F23-A494-B4BDA27D17CE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s72wew-12">
            <a:extLst>
              <a:ext uri="{FF2B5EF4-FFF2-40B4-BE49-F238E27FC236}">
                <a16:creationId xmlns:a16="http://schemas.microsoft.com/office/drawing/2014/main" id="{D33E2B45-AB22-49B2-9C6D-25D779BC3BD3}"/>
              </a:ext>
            </a:extLst>
          </p:cNvPr>
          <p:cNvSpPr>
            <a:spLocks noGrp="1"/>
          </p:cNvSpPr>
          <p:nvPr/>
        </p:nvSpPr>
        <p:spPr>
          <a:xfrm>
            <a:off x="1800225" y="5038725"/>
            <a:ext cx="952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Dopracowanie aplikacji</a:t>
            </a:r>
          </a:p>
        </p:txBody>
      </p:sp>
      <p:sp>
        <p:nvSpPr>
          <p:cNvPr id="14" name="text-s72wew-13">
            <a:extLst>
              <a:ext uri="{FF2B5EF4-FFF2-40B4-BE49-F238E27FC236}">
                <a16:creationId xmlns:a16="http://schemas.microsoft.com/office/drawing/2014/main" id="{7A7CAC2C-34CC-4086-AA2E-639614B5268F}"/>
              </a:ext>
            </a:extLst>
          </p:cNvPr>
          <p:cNvSpPr>
            <a:spLocks noGrp="1"/>
          </p:cNvSpPr>
          <p:nvPr/>
        </p:nvSpPr>
        <p:spPr>
          <a:xfrm>
            <a:off x="1800225" y="5495925"/>
            <a:ext cx="9477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Mapa z klastrami, ulubione, zgłoszenia, cache i poprawki układu oraz filtrów.</a:t>
            </a:r>
          </a:p>
        </p:txBody>
      </p:sp>
    </p:spTree>
    <p:extLst>
      <p:ext uri="{BB962C8B-B14F-4D97-AF65-F5344CB8AC3E}">
        <p14:creationId xmlns:p14="http://schemas.microsoft.com/office/powerpoint/2010/main" val="130990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fwag83-0">
            <a:extLst>
              <a:ext uri="{FF2B5EF4-FFF2-40B4-BE49-F238E27FC236}">
                <a16:creationId xmlns:a16="http://schemas.microsoft.com/office/drawing/2014/main" id="{8637C250-01FE-4255-ABF7-B127FF6DF87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Rezultaty: katalog i jakość danych</a:t>
            </a:r>
          </a:p>
        </p:txBody>
      </p:sp>
      <p:sp>
        <p:nvSpPr>
          <p:cNvPr id="2" name="text-fwag83-1">
            <a:extLst>
              <a:ext uri="{FF2B5EF4-FFF2-40B4-BE49-F238E27FC236}">
                <a16:creationId xmlns:a16="http://schemas.microsoft.com/office/drawing/2014/main" id="{0A637E43-B7B0-44F5-A8C2-039B950CFF30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fwag83-2">
            <a:extLst>
              <a:ext uri="{FF2B5EF4-FFF2-40B4-BE49-F238E27FC236}">
                <a16:creationId xmlns:a16="http://schemas.microsoft.com/office/drawing/2014/main" id="{5826BD9A-F1A3-4E1E-A141-AF492B3433AD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300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11 214</a:t>
            </a:r>
          </a:p>
        </p:txBody>
      </p:sp>
      <p:sp>
        <p:nvSpPr>
          <p:cNvPr id="4" name="text-fwag83-3">
            <a:extLst>
              <a:ext uri="{FF2B5EF4-FFF2-40B4-BE49-F238E27FC236}">
                <a16:creationId xmlns:a16="http://schemas.microsoft.com/office/drawing/2014/main" id="{8D9BF4CB-121F-4BE3-8332-43CA319ACC96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23862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opublikowanych rekordów OSM</a:t>
            </a:r>
          </a:p>
          <a:p>
            <a:pPr algn="l">
              <a:defRPr sz="2100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Stan raportów: 4.10.2026</a:t>
            </a:r>
          </a:p>
        </p:txBody>
      </p:sp>
      <p:sp>
        <p:nvSpPr>
          <p:cNvPr id="5" name="text-fwag83-4">
            <a:extLst>
              <a:ext uri="{FF2B5EF4-FFF2-40B4-BE49-F238E27FC236}">
                <a16:creationId xmlns:a16="http://schemas.microsoft.com/office/drawing/2014/main" id="{22C46AF6-64F2-442B-938D-1EF991DF7134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8 617</a:t>
            </a:r>
          </a:p>
        </p:txBody>
      </p:sp>
      <p:sp>
        <p:nvSpPr>
          <p:cNvPr id="6" name="text-fwag83-5">
            <a:extLst>
              <a:ext uri="{FF2B5EF4-FFF2-40B4-BE49-F238E27FC236}">
                <a16:creationId xmlns:a16="http://schemas.microsoft.com/office/drawing/2014/main" id="{B1EB7CCE-A615-40F5-965A-B424BA00A08A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uzupełnionych miejscowości</a:t>
            </a:r>
          </a:p>
        </p:txBody>
      </p:sp>
      <p:sp>
        <p:nvSpPr>
          <p:cNvPr id="7" name="text-fwag83-6">
            <a:extLst>
              <a:ext uri="{FF2B5EF4-FFF2-40B4-BE49-F238E27FC236}">
                <a16:creationId xmlns:a16="http://schemas.microsoft.com/office/drawing/2014/main" id="{7AE5CC3C-BBBB-4A02-89EE-B69338E3970A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3810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3457F6"/>
                </a:solidFill>
                <a:latin typeface="Arial"/>
                <a:ea typeface="Arial"/>
                <a:cs typeface="Arial"/>
              </a:rPr>
              <a:t>2</a:t>
            </a:r>
            <a:r>
              <a:rPr lang="en-GB" sz="2175" b="1" dirty="0">
                <a:solidFill>
                  <a:srgbClr val="3457F6"/>
                </a:solidFill>
                <a:latin typeface="Arial"/>
                <a:ea typeface="Arial"/>
                <a:cs typeface="Arial"/>
              </a:rPr>
              <a:t> 167</a:t>
            </a:r>
            <a:endParaRPr sz="2175" b="1" dirty="0">
              <a:solidFill>
                <a:srgbClr val="3457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-fwag83-7">
            <a:extLst>
              <a:ext uri="{FF2B5EF4-FFF2-40B4-BE49-F238E27FC236}">
                <a16:creationId xmlns:a16="http://schemas.microsoft.com/office/drawing/2014/main" id="{EBEB24AE-38D0-4AE4-A265-6BE23146BB37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42386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lang="en-GB" sz="1950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uzupełnionych</a:t>
            </a:r>
            <a:r>
              <a:rPr lang="en-GB" sz="1950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950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kodów</a:t>
            </a:r>
            <a:r>
              <a:rPr lang="en-GB" sz="1950" b="0" dirty="0">
                <a:solidFill>
                  <a:srgbClr val="526079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1950" b="0" dirty="0" err="1">
                <a:solidFill>
                  <a:srgbClr val="526079"/>
                </a:solidFill>
                <a:latin typeface="Arial"/>
                <a:ea typeface="Arial"/>
                <a:cs typeface="Arial"/>
              </a:rPr>
              <a:t>pocztowych</a:t>
            </a:r>
            <a:endParaRPr lang="en-GB" sz="1950" b="0" dirty="0">
              <a:solidFill>
                <a:srgbClr val="5260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-fwag83-8">
            <a:extLst>
              <a:ext uri="{FF2B5EF4-FFF2-40B4-BE49-F238E27FC236}">
                <a16:creationId xmlns:a16="http://schemas.microsoft.com/office/drawing/2014/main" id="{B5DE5CA7-B5F4-4A25-9871-88B49B74E6FB}"/>
              </a:ext>
            </a:extLst>
          </p:cNvPr>
          <p:cNvSpPr>
            <a:spLocks noGrp="1"/>
          </p:cNvSpPr>
          <p:nvPr/>
        </p:nvSpPr>
        <p:spPr>
          <a:xfrm>
            <a:off x="5476875" y="1695450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Kompletność po uzupełnieniu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="5362575" y="2400300"/>
          <a:ext cx="617220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-fwag83-9">
            <a:extLst>
              <a:ext uri="{FF2B5EF4-FFF2-40B4-BE49-F238E27FC236}">
                <a16:creationId xmlns:a16="http://schemas.microsoft.com/office/drawing/2014/main" id="{E67D0B99-E55F-41AC-B875-784F60452469}"/>
              </a:ext>
            </a:extLst>
          </p:cNvPr>
          <p:cNvSpPr>
            <a:spLocks noGrp="1"/>
          </p:cNvSpPr>
          <p:nvPr/>
        </p:nvSpPr>
        <p:spPr>
          <a:xfrm>
            <a:off x="5476875" y="5572125"/>
            <a:ext cx="6000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To rekordy obiektów z OSM. Nie oznaczają 11 214 potwierdzeń akceptacji kart.</a:t>
            </a:r>
          </a:p>
        </p:txBody>
      </p:sp>
    </p:spTree>
    <p:extLst>
      <p:ext uri="{BB962C8B-B14F-4D97-AF65-F5344CB8AC3E}">
        <p14:creationId xmlns:p14="http://schemas.microsoft.com/office/powerpoint/2010/main" val="15933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v5fxhq-0">
            <a:extLst>
              <a:ext uri="{FF2B5EF4-FFF2-40B4-BE49-F238E27FC236}">
                <a16:creationId xmlns:a16="http://schemas.microsoft.com/office/drawing/2014/main" id="{583F6476-CC2E-4C6D-A233-6BB05FFF8D2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A30"/>
                </a:solidFill>
                <a:latin typeface="Arial"/>
                <a:ea typeface="Arial"/>
                <a:cs typeface="Arial"/>
              </a:rPr>
              <a:t>Plany rozwoju</a:t>
            </a:r>
          </a:p>
        </p:txBody>
      </p:sp>
      <p:sp>
        <p:nvSpPr>
          <p:cNvPr id="2" name="text-v5fxhq-1">
            <a:extLst>
              <a:ext uri="{FF2B5EF4-FFF2-40B4-BE49-F238E27FC236}">
                <a16:creationId xmlns:a16="http://schemas.microsoft.com/office/drawing/2014/main" id="{2F518C9E-FBF6-4B73-848A-5728085EF6FB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v5fxhq-2">
            <a:extLst>
              <a:ext uri="{FF2B5EF4-FFF2-40B4-BE49-F238E27FC236}">
                <a16:creationId xmlns:a16="http://schemas.microsoft.com/office/drawing/2014/main" id="{48C9BD56-8E08-43D6-A61D-0A847FF10C4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Najpierw wiarygodność</a:t>
            </a:r>
          </a:p>
        </p:txBody>
      </p:sp>
      <p:sp>
        <p:nvSpPr>
          <p:cNvPr id="4" name="text-v5fxhq-3">
            <a:extLst>
              <a:ext uri="{FF2B5EF4-FFF2-40B4-BE49-F238E27FC236}">
                <a16:creationId xmlns:a16="http://schemas.microsoft.com/office/drawing/2014/main" id="{A0701172-255D-4A17-94A6-786AAEB72D04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5476875" cy="1304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Więcej potwierdzeń od obiektów i operatorów. Moderacja zgłoszeń, historia zmian i aktualność danych.</a:t>
            </a:r>
          </a:p>
        </p:txBody>
      </p:sp>
      <p:sp>
        <p:nvSpPr>
          <p:cNvPr id="5" name="text-v5fxhq-4">
            <a:extLst>
              <a:ext uri="{FF2B5EF4-FFF2-40B4-BE49-F238E27FC236}">
                <a16:creationId xmlns:a16="http://schemas.microsoft.com/office/drawing/2014/main" id="{AE7BCC5B-C564-425D-8A05-118EF586FFD3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57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57F6"/>
                </a:solidFill>
                <a:latin typeface="Arial"/>
                <a:ea typeface="Arial"/>
                <a:cs typeface="Arial"/>
              </a:rPr>
              <a:t>Potem lepsze dopasowanie</a:t>
            </a:r>
          </a:p>
        </p:txBody>
      </p:sp>
      <p:sp>
        <p:nvSpPr>
          <p:cNvPr id="6" name="text-v5fxhq-5">
            <a:extLst>
              <a:ext uri="{FF2B5EF4-FFF2-40B4-BE49-F238E27FC236}">
                <a16:creationId xmlns:a16="http://schemas.microsoft.com/office/drawing/2014/main" id="{D61942D0-EB01-4C15-A625-E4B03CA3930D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5334000" cy="1257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0">
                <a:solidFill>
                  <a:srgbClr val="101A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A30"/>
                </a:solidFill>
                <a:latin typeface="Arial"/>
                <a:ea typeface="Arial"/>
                <a:cs typeface="Arial"/>
              </a:rPr>
              <a:t>Testy z użytkownikami, poprawa dostępności i informacje o udogodnieniach.</a:t>
            </a:r>
          </a:p>
        </p:txBody>
      </p:sp>
      <p:sp>
        <p:nvSpPr>
          <p:cNvPr id="7" name="text-v5fxhq-6">
            <a:extLst>
              <a:ext uri="{FF2B5EF4-FFF2-40B4-BE49-F238E27FC236}">
                <a16:creationId xmlns:a16="http://schemas.microsoft.com/office/drawing/2014/main" id="{3BDAA5A9-2929-44BD-B704-2C7DA552B19B}"/>
              </a:ext>
            </a:extLst>
          </p:cNvPr>
          <p:cNvSpPr>
            <a:spLocks noGrp="1"/>
          </p:cNvSpPr>
          <p:nvPr/>
        </p:nvSpPr>
        <p:spPr>
          <a:xfrm>
            <a:off x="7191375" y="1752600"/>
            <a:ext cx="4333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713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13DFF"/>
                </a:solidFill>
                <a:latin typeface="Arial"/>
                <a:ea typeface="Arial"/>
                <a:cs typeface="Arial"/>
              </a:rPr>
              <a:t>Kryteria kolejnego etapu</a:t>
            </a:r>
          </a:p>
        </p:txBody>
      </p:sp>
      <p:sp>
        <p:nvSpPr>
          <p:cNvPr id="8" name="text-v5fxhq-7">
            <a:extLst>
              <a:ext uri="{FF2B5EF4-FFF2-40B4-BE49-F238E27FC236}">
                <a16:creationId xmlns:a16="http://schemas.microsoft.com/office/drawing/2014/main" id="{966FD40A-4EE1-4796-BECD-C0DF639455E4}"/>
              </a:ext>
            </a:extLst>
          </p:cNvPr>
          <p:cNvSpPr>
            <a:spLocks noGrp="1"/>
          </p:cNvSpPr>
          <p:nvPr/>
        </p:nvSpPr>
        <p:spPr>
          <a:xfrm>
            <a:off x="7191375" y="2295525"/>
            <a:ext cx="4238625" cy="3152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Pokrycie obiektów aktualnymi informacjami o kartach.</a:t>
            </a:r>
          </a:p>
          <a:p>
            <a:endParaRPr sz="2025" b="0">
              <a:solidFill>
                <a:srgbClr val="526079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Czas potrzebny na wybór miejsca.</a:t>
            </a:r>
          </a:p>
          <a:p>
            <a:endParaRPr sz="2025" b="0">
              <a:solidFill>
                <a:srgbClr val="526079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79"/>
                </a:solidFill>
                <a:latin typeface="Arial"/>
                <a:ea typeface="Arial"/>
                <a:cs typeface="Arial"/>
              </a:rPr>
              <a:t>Odsetek użytkowników, którzy znajdują odpowiedni obiekt.</a:t>
            </a:r>
          </a:p>
        </p:txBody>
      </p:sp>
      <p:sp>
        <p:nvSpPr>
          <p:cNvPr id="9" name="text-v5fxhq-8">
            <a:extLst>
              <a:ext uri="{FF2B5EF4-FFF2-40B4-BE49-F238E27FC236}">
                <a16:creationId xmlns:a16="http://schemas.microsoft.com/office/drawing/2014/main" id="{35471B52-623C-498D-9470-F6D9F9FE3E99}"/>
              </a:ext>
            </a:extLst>
          </p:cNvPr>
          <p:cNvSpPr>
            <a:spLocks noGrp="1"/>
          </p:cNvSpPr>
          <p:nvPr/>
        </p:nvSpPr>
        <p:spPr>
          <a:xfrm>
            <a:off x="7191375" y="5648325"/>
            <a:ext cx="4238625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079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52607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05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msz51p-0">
            <a:extLst>
              <a:ext uri="{FF2B5EF4-FFF2-40B4-BE49-F238E27FC236}">
                <a16:creationId xmlns:a16="http://schemas.microsoft.com/office/drawing/2014/main" id="{468A67EE-A3F8-41EB-B6A0-B21ABFE034B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Pass Finder</a:t>
            </a:r>
          </a:p>
        </p:txBody>
      </p:sp>
      <p:sp>
        <p:nvSpPr>
          <p:cNvPr id="2" name="text-msz51p-1">
            <a:extLst>
              <a:ext uri="{FF2B5EF4-FFF2-40B4-BE49-F238E27FC236}">
                <a16:creationId xmlns:a16="http://schemas.microsoft.com/office/drawing/2014/main" id="{B974519F-36A0-4D87-BE31-8CEE23B277CA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A9B9D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9D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msz51p-2">
            <a:extLst>
              <a:ext uri="{FF2B5EF4-FFF2-40B4-BE49-F238E27FC236}">
                <a16:creationId xmlns:a16="http://schemas.microsoft.com/office/drawing/2014/main" id="{C1C908D1-11E7-41CB-9052-C71E0B7D4AFD}"/>
              </a:ext>
            </a:extLst>
          </p:cNvPr>
          <p:cNvSpPr>
            <a:spLocks noGrp="1"/>
          </p:cNvSpPr>
          <p:nvPr/>
        </p:nvSpPr>
        <p:spPr>
          <a:xfrm>
            <a:off x="609600" y="2104103"/>
            <a:ext cx="10763250" cy="12582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Łatwiejszy</a:t>
            </a:r>
            <a:r>
              <a:rPr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wybór</a:t>
            </a:r>
            <a:r>
              <a:rPr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miejsca</a:t>
            </a:r>
            <a:endParaRPr sz="3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</a:t>
            </a:r>
            <a:r>
              <a:rPr sz="3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aktywności</a:t>
            </a:r>
            <a:r>
              <a:rPr sz="3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fizycznej</a:t>
            </a:r>
            <a:endParaRPr sz="3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-msz51p-3">
            <a:extLst>
              <a:ext uri="{FF2B5EF4-FFF2-40B4-BE49-F238E27FC236}">
                <a16:creationId xmlns:a16="http://schemas.microsoft.com/office/drawing/2014/main" id="{70465F8E-785E-4377-B4D0-4FD480148F2E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ACBFFF"/>
                </a:solidFill>
                <a:latin typeface="Arial"/>
                <a:ea typeface="Arial"/>
                <a:cs typeface="Arial"/>
              </a:defRPr>
            </a:pP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Wspólny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katalog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 kart </a:t>
            </a: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sportowych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 z </a:t>
            </a: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mapą</a:t>
            </a:r>
            <a:endParaRPr sz="2550" b="0" dirty="0">
              <a:solidFill>
                <a:srgbClr val="ACBFFF"/>
              </a:solidFill>
              <a:latin typeface="Arial"/>
              <a:ea typeface="Arial"/>
              <a:cs typeface="Arial"/>
            </a:endParaRPr>
          </a:p>
          <a:p>
            <a:pPr algn="l">
              <a:defRPr sz="2550" b="0">
                <a:solidFill>
                  <a:srgbClr val="ACBFFF"/>
                </a:solidFill>
                <a:latin typeface="Arial"/>
                <a:ea typeface="Arial"/>
                <a:cs typeface="Arial"/>
              </a:defRPr>
            </a:pP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i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czytelnymi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warunkami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0" dirty="0" err="1">
                <a:solidFill>
                  <a:srgbClr val="ACBFFF"/>
                </a:solidFill>
                <a:latin typeface="Arial"/>
                <a:ea typeface="Arial"/>
                <a:cs typeface="Arial"/>
              </a:rPr>
              <a:t>wejścia</a:t>
            </a:r>
            <a:r>
              <a:rPr sz="2550" b="0" dirty="0">
                <a:solidFill>
                  <a:srgbClr val="ACB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text-msz51p-4">
            <a:extLst>
              <a:ext uri="{FF2B5EF4-FFF2-40B4-BE49-F238E27FC236}">
                <a16:creationId xmlns:a16="http://schemas.microsoft.com/office/drawing/2014/main" id="{55DD2912-C561-4774-822B-DDFA0902A079}"/>
              </a:ext>
            </a:extLst>
          </p:cNvPr>
          <p:cNvSpPr>
            <a:spLocks noGrp="1"/>
          </p:cNvSpPr>
          <p:nvPr/>
        </p:nvSpPr>
        <p:spPr>
          <a:xfrm>
            <a:off x="547687" y="4826399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>
                <a:hlinkClick r:id="rId3"/>
              </a:rPr>
              <a:t>Demo: fit-pass-</a:t>
            </a:r>
            <a:r>
              <a:rPr dirty="0" err="1">
                <a:hlinkClick r:id="rId3"/>
              </a:rPr>
              <a:t>finder.vercel.app</a:t>
            </a:r>
            <a:endParaRPr dirty="0">
              <a:hlinkClick r:id="rId3"/>
            </a:endParaRPr>
          </a:p>
        </p:txBody>
      </p:sp>
      <p:sp>
        <p:nvSpPr>
          <p:cNvPr id="6" name="text-msz51p-5">
            <a:extLst>
              <a:ext uri="{FF2B5EF4-FFF2-40B4-BE49-F238E27FC236}">
                <a16:creationId xmlns:a16="http://schemas.microsoft.com/office/drawing/2014/main" id="{B2488293-329B-4249-98B5-836AC731CE76}"/>
              </a:ext>
            </a:extLst>
          </p:cNvPr>
          <p:cNvSpPr>
            <a:spLocks noGrp="1"/>
          </p:cNvSpPr>
          <p:nvPr/>
        </p:nvSpPr>
        <p:spPr>
          <a:xfrm>
            <a:off x="547687" y="5435006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A9B9DA"/>
                </a:solidFill>
                <a:latin typeface="Arial"/>
                <a:ea typeface="Arial"/>
                <a:cs typeface="Arial"/>
              </a:defRPr>
            </a:pPr>
            <a:r>
              <a:rPr dirty="0" err="1">
                <a:hlinkClick r:id="rId4"/>
              </a:rPr>
              <a:t>Kod</a:t>
            </a:r>
            <a:r>
              <a:rPr dirty="0">
                <a:hlinkClick r:id="rId4"/>
              </a:rPr>
              <a:t>: github.com/</a:t>
            </a:r>
            <a:r>
              <a:rPr dirty="0" err="1">
                <a:hlinkClick r:id="rId4"/>
              </a:rPr>
              <a:t>adasbl</a:t>
            </a:r>
            <a:r>
              <a:rPr dirty="0">
                <a:hlinkClick r:id="rId4"/>
              </a:rPr>
              <a:t>/hackyeah-2026</a:t>
            </a:r>
          </a:p>
        </p:txBody>
      </p:sp>
      <p:sp>
        <p:nvSpPr>
          <p:cNvPr id="7" name="text-msz51p-6">
            <a:extLst>
              <a:ext uri="{FF2B5EF4-FFF2-40B4-BE49-F238E27FC236}">
                <a16:creationId xmlns:a16="http://schemas.microsoft.com/office/drawing/2014/main" id="{D6499417-4C40-4B9B-B6C5-7075EE1B7104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A9B9D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9DA"/>
                </a:solidFill>
                <a:latin typeface="Arial"/>
                <a:ea typeface="Arial"/>
                <a:cs typeface="Arial"/>
              </a:rPr>
              <a:t>Dane: © OpenStreetMap contributors (</a:t>
            </a:r>
            <a:r>
              <a:rPr sz="1275" b="0" dirty="0" err="1">
                <a:solidFill>
                  <a:srgbClr val="A9B9DA"/>
                </a:solidFill>
                <a:latin typeface="Arial"/>
                <a:ea typeface="Arial"/>
                <a:cs typeface="Arial"/>
              </a:rPr>
              <a:t>ODbL</a:t>
            </a:r>
            <a:r>
              <a:rPr sz="1275" b="0" dirty="0">
                <a:solidFill>
                  <a:srgbClr val="A9B9DA"/>
                </a:solidFill>
                <a:latin typeface="Arial"/>
                <a:ea typeface="Arial"/>
                <a:cs typeface="Arial"/>
              </a:rPr>
              <a:t>)   </a:t>
            </a:r>
            <a:r>
              <a:rPr lang="pl-PL" sz="1275" b="0" dirty="0">
                <a:solidFill>
                  <a:srgbClr val="A9B9DA"/>
                </a:solidFill>
                <a:latin typeface="Arial"/>
                <a:ea typeface="Arial"/>
                <a:cs typeface="Arial"/>
              </a:rPr>
              <a:t>                                                                       </a:t>
            </a:r>
          </a:p>
          <a:p>
            <a:pPr algn="l">
              <a:defRPr sz="1275" b="0">
                <a:solidFill>
                  <a:srgbClr val="A9B9DA"/>
                </a:solidFill>
                <a:latin typeface="Arial"/>
                <a:ea typeface="Arial"/>
                <a:cs typeface="Arial"/>
              </a:defRPr>
            </a:pPr>
            <a:r>
              <a:rPr lang="pl-PL" sz="1275" b="0" dirty="0">
                <a:solidFill>
                  <a:srgbClr val="A9B9DA"/>
                </a:solidFill>
                <a:latin typeface="Arial"/>
                <a:ea typeface="Arial"/>
                <a:cs typeface="Arial"/>
              </a:rPr>
              <a:t>W pracy zostały wykorzystane narzędzia AI</a:t>
            </a:r>
            <a:r>
              <a:rPr sz="1275" b="0" dirty="0">
                <a:solidFill>
                  <a:srgbClr val="A9B9DA"/>
                </a:solidFill>
                <a:latin typeface="Arial"/>
                <a:ea typeface="Arial"/>
                <a:cs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235355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Microsoft Office PowerPoint</Application>
  <DocSecurity>0</DocSecurity>
  <PresentationFormat>Panoramiczny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Maciej Domeradzki</cp:lastModifiedBy>
  <cp:revision>1</cp:revision>
  <dcterms:created xsi:type="dcterms:W3CDTF">2026-10-04T08:01:43Z</dcterms:created>
  <dcterms:modified xsi:type="dcterms:W3CDTF">2026-10-04T08:19:07Z</dcterms:modified>
</cp:coreProperties>
</file>